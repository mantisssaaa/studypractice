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 Condensed" panose="020B0604020202020204" charset="0"/>
      <p:regular r:id="rId14"/>
      <p:bold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BAFC"/>
    <a:srgbClr val="BE67B6"/>
    <a:srgbClr val="BA794E"/>
    <a:srgbClr val="33AFAF"/>
    <a:srgbClr val="3A3A3A"/>
    <a:srgbClr val="1F1F1F"/>
    <a:srgbClr val="FFFFFF"/>
    <a:srgbClr val="4472C4"/>
    <a:srgbClr val="55575A"/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7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99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2001" y="42127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КОНСОЛЬНАЯ УТИЛИТА МОНИТОРИНГА УЗЛОВ НА GO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32080" y="687554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Разработка инструмента для проверки доступности сетевых узлов с поддержкой TCP/ICMP, параллельного опроса и отказоустойчивого логирования.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A382571-0AFA-3846-5EE4-C89DE5FE99E9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 1"/>
          <p:cNvSpPr/>
          <p:nvPr/>
        </p:nvSpPr>
        <p:spPr>
          <a:xfrm>
            <a:off x="12841794" y="7821709"/>
            <a:ext cx="1788606" cy="40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 smtClean="0">
                <a:solidFill>
                  <a:srgbClr val="55575A"/>
                </a:solidFill>
              </a:rPr>
              <a:t>Обабков С.И. 363</a:t>
            </a:r>
            <a:endParaRPr lang="en-US" sz="1750" dirty="0">
              <a:solidFill>
                <a:srgbClr val="55575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2371" y="1081067"/>
            <a:ext cx="7556421" cy="191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</a:t>
            </a:r>
            <a:r>
              <a:rPr lang="en-US" sz="4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АНАЛИЗ ТРЕБОВАНИЙ И ПРОЕКТИРОВАНИЕ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17398" y="364958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СБОР ТРЕБОВАНИЙ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17398" y="4152143"/>
            <a:ext cx="3529251" cy="237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Чтение списка хостов из файла </a:t>
            </a:r>
            <a:r>
              <a:rPr lang="en-US" sz="16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hosts.txt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Два режима проверки: </a:t>
            </a:r>
            <a:r>
              <a:rPr lang="en-US" sz="16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TCP</a:t>
            </a: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и </a:t>
            </a:r>
            <a:r>
              <a:rPr lang="en-US" sz="16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ICMP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Ведение журнала событий (логирование)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Управление параметрами через флаги CLI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86434" y="3706967"/>
            <a:ext cx="350948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АРХИТЕКТУРНОЕ РЕШЕНИЕ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286434" y="4209530"/>
            <a:ext cx="3529251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конкурентности на </a:t>
            </a:r>
            <a:r>
              <a:rPr lang="en-US" sz="160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базе</a:t>
            </a: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ru-RU" sz="1600" b="1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Горутин</a:t>
            </a:r>
            <a:r>
              <a:rPr lang="en-US" sz="16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: </a:t>
            </a: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каждый хост опрашивается в отдельном потоке, что обеспечивает параллельную проверку без блокировки основного процесса.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278" y="3764354"/>
            <a:ext cx="255151" cy="204073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C16AD53-A006-C779-48DE-5BD890730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55" y="3706967"/>
            <a:ext cx="255151" cy="20407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382571-0AFA-3846-5EE4-C89DE5FE99E9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248356" y="2878667"/>
            <a:ext cx="13614400" cy="4402666"/>
          </a:xfrm>
          <a:prstGeom prst="round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30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</a:t>
            </a: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ПРОГРАММИРОВАНИЕ ЛОГИКИ (BACKEND)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74244"/>
            <a:ext cx="4196358" cy="3152299"/>
          </a:xfrm>
          <a:prstGeom prst="roundRect">
            <a:avLst>
              <a:gd name="adj" fmla="val 1079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1888" y="36322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44119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СИСТЕМА ФЛАГОВ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902398"/>
            <a:ext cx="368177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Пакет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для управления режимами: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-monitor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-icmp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 Гибкое переключение поведения без перекомпиляции.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74244"/>
            <a:ext cx="4196358" cy="3152299"/>
          </a:xfrm>
          <a:prstGeom prst="roundRect">
            <a:avLst>
              <a:gd name="adj" fmla="val 1079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5060" y="36322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4411980"/>
            <a:ext cx="2844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СЕТЕВЫЕ ФУНКЦИИ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902398"/>
            <a:ext cx="368177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Реализация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pingHost()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для TCP-проверки и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icmpPing()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для ICMP — с установкой таймаутов и обработкой ошибок соединения.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474244"/>
            <a:ext cx="4196358" cy="3152299"/>
          </a:xfrm>
          <a:prstGeom prst="roundRect">
            <a:avLst>
              <a:gd name="adj" fmla="val 1079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68232" y="36322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4411980"/>
            <a:ext cx="2999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РАБОТА С ФАЙЛАМИ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902398"/>
            <a:ext cx="368177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Потоковое чтение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hosts.txt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через </a:t>
            </a:r>
            <a:r>
              <a:rPr lang="en-US" sz="17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bufio.Scanner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экономия памяти при больших списках хостов без загрузки всего файла.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F04ED6A-BCBC-E46C-28D4-1943CE923AA3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584888" y="1505783"/>
            <a:ext cx="4259223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РАБОТА </a:t>
            </a: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 ПРОТОКОЛОМ ICMP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584888" y="3378637"/>
            <a:ext cx="308562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КЛЮЧЕВЫЕ СЛОЖНОСТИ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84888" y="3843695"/>
            <a:ext cx="4259223" cy="185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Формирование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пакетов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вручную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: </a:t>
            </a:r>
            <a:r>
              <a:rPr lang="en-US" sz="1500" dirty="0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ipv4.ICMPTypeEcho</a:t>
            </a:r>
            <a:endParaRPr lang="en-US" sz="1500" dirty="0" smtClean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Сериализация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/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десериализация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через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dirty="0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Marshal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и </a:t>
            </a:r>
            <a:r>
              <a:rPr lang="en-US" sz="1500" dirty="0" err="1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Unmarshal</a:t>
            </a:r>
            <a:endParaRPr lang="en-US" sz="1500" dirty="0" smtClean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Проблема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b="1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ICMP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: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требу</a:t>
            </a:r>
            <a:r>
              <a:rPr lang="ru-RU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е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привилегий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50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суперпользователя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</a:t>
            </a:r>
            <a:r>
              <a:rPr lang="en-US" sz="1500" dirty="0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50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84888" y="586418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584888" y="6329243"/>
            <a:ext cx="425922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Реализована проверка прав при запуске с понятным сообщением об ошибке и возможностью автоматического переключения на TCP-режим.</a:t>
            </a:r>
            <a:endParaRPr lang="en-US" sz="15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078FA6C-B92E-A477-CF06-24D2A4BD40DB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514"/>
            <a:ext cx="7816214" cy="770708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7816214" cy="41198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411982"/>
            <a:ext cx="7506401" cy="110532"/>
          </a:xfrm>
          <a:prstGeom prst="rect">
            <a:avLst/>
          </a:prstGeom>
          <a:solidFill>
            <a:srgbClr val="33A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7712943" y="411982"/>
            <a:ext cx="103271" cy="110532"/>
          </a:xfrm>
          <a:prstGeom prst="rect">
            <a:avLst/>
          </a:prstGeom>
          <a:solidFill>
            <a:srgbClr val="BA7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7609672" y="411982"/>
            <a:ext cx="103271" cy="110532"/>
          </a:xfrm>
          <a:prstGeom prst="rect">
            <a:avLst/>
          </a:prstGeom>
          <a:solidFill>
            <a:srgbClr val="BE6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7506401" y="411982"/>
            <a:ext cx="103271" cy="110532"/>
          </a:xfrm>
          <a:prstGeom prst="rect">
            <a:avLst/>
          </a:prstGeom>
          <a:solidFill>
            <a:srgbClr val="56B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393" y="588050"/>
            <a:ext cx="11616571" cy="59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</a:t>
            </a:r>
            <a:r>
              <a:rPr lang="en-US" sz="3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ОБЕСПЕЧЕНИЕ ОТКАЗОУСТОЙЧИВОСТИ</a:t>
            </a:r>
            <a:endParaRPr lang="en-US" sz="3750" dirty="0"/>
          </a:p>
        </p:txBody>
      </p:sp>
      <p:sp>
        <p:nvSpPr>
          <p:cNvPr id="22" name="Стрелка вправо 21"/>
          <p:cNvSpPr/>
          <p:nvPr/>
        </p:nvSpPr>
        <p:spPr>
          <a:xfrm>
            <a:off x="2043873" y="4123108"/>
            <a:ext cx="8398349" cy="162293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043874" y="2836561"/>
            <a:ext cx="6513104" cy="162293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2224185" y="4777601"/>
            <a:ext cx="4015227" cy="37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ОЖИДАНИЕ ЗАВЕРШЕНИЯ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2224185" y="3475455"/>
            <a:ext cx="3127060" cy="373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ОТМЕНА КОНТЕКСТА</a:t>
            </a:r>
            <a:endParaRPr lang="en-US" sz="2350" dirty="0"/>
          </a:p>
        </p:txBody>
      </p:sp>
      <p:sp>
        <p:nvSpPr>
          <p:cNvPr id="19" name="Стрелка вправо 18"/>
          <p:cNvSpPr/>
          <p:nvPr/>
        </p:nvSpPr>
        <p:spPr>
          <a:xfrm>
            <a:off x="2043875" y="1517404"/>
            <a:ext cx="4763325" cy="162293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2224185" y="2160022"/>
            <a:ext cx="3430174" cy="373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ПОЛУЧЕНИЕ СИГНАЛА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671393" y="6176724"/>
            <a:ext cx="2944178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GRACEFUL SHUTDOWN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71393" y="6638568"/>
            <a:ext cx="640984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Перехват системных сигналов (</a:t>
            </a: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SIGINT</a:t>
            </a: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SIGTERM</a:t>
            </a: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) через пакет </a:t>
            </a: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os/signal</a:t>
            </a: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позволяет корректно остановить все горутины без потери данных в логах.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56778" y="6176724"/>
            <a:ext cx="2397919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СИНХРОНИЗАЦИЯ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556778" y="6638568"/>
            <a:ext cx="6409849" cy="85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sync.WaitGroup</a:t>
            </a: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гарантирует, что основной поток ждёт завершения всех дочерних горутин перед выходом — исключается состояние гонки и неполная запись.</a:t>
            </a:r>
            <a:endParaRPr lang="en-US" sz="15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39E34E-4DFC-B6E6-7BCB-A3735A21C7E2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31" y="428764"/>
            <a:ext cx="102784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</a:t>
            </a: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ТЕСТИРОВАНИЕ И ОТЛАДКА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644253" y="3543538"/>
            <a:ext cx="28554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ФОРМАТЫ ВЫВОДА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033957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Проверка корректности табличного вывода в стандартном режиме и </a:t>
            </a:r>
            <a:r>
              <a:rPr lang="ru-RU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</a:t>
            </a:r>
            <a:r>
              <a:rPr lang="ru-RU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ежиме мониторинга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086356" y="3543538"/>
            <a:ext cx="30856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ГРАНИЧНЫЕ СЛУЧАИ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033957"/>
            <a:ext cx="3308152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Тестирование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пустых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файлов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hosts.txt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хостов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с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истёкшим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таймаутом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и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корректности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работы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без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smtClean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0528459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ПРАВА ДОСТУПА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033957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Проверка поведения утилиты при запуске от обычного пользователя и от суперпользователя — оба сценария обработаны корректно.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BC9B422-16B5-2C06-D1E8-35459B6A8061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644253" y="2888343"/>
            <a:ext cx="3308152" cy="1161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086356" y="2888343"/>
            <a:ext cx="3308152" cy="1161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0528459" y="2884159"/>
            <a:ext cx="3308152" cy="1161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3004"/>
            <a:ext cx="86400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РЕЗУЛЬТАТЫ И САМОАНАЛИЗ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029902"/>
            <a:ext cx="624470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221944"/>
            <a:ext cx="6244709" cy="3595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597312"/>
            <a:ext cx="4867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ПРИОБРЕТЁННЫЕ </a:t>
            </a: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КОМПЕТЕНЦИИ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178456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Конкурентное программирование на Go (Goroutines, WaitGroup)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Работа с низкоуровневыми сетевыми протоколами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Проектирование </a:t>
            </a:r>
            <a:r>
              <a:rPr lang="en-US" sz="175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отказоустойчивых</a:t>
            </a: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sz="1750" dirty="0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CLI-</a:t>
            </a:r>
            <a:r>
              <a:rPr lang="en-US" sz="1750" dirty="0" err="1" smtClean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инструментов</a:t>
            </a:r>
            <a:endParaRPr lang="ru-RU" sz="1750" dirty="0" smtClean="0">
              <a:solidFill>
                <a:srgbClr val="55575A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36168" y="2221944"/>
            <a:ext cx="6571417" cy="4834533"/>
          </a:xfrm>
          <a:prstGeom prst="roundRect">
            <a:avLst>
              <a:gd name="adj" fmla="val 704"/>
            </a:avLst>
          </a:prstGeom>
          <a:solidFill>
            <a:srgbClr val="1E1E1A"/>
          </a:solidFill>
          <a:ln/>
        </p:spPr>
      </p:sp>
      <p:sp>
        <p:nvSpPr>
          <p:cNvPr id="9" name="Text 7"/>
          <p:cNvSpPr/>
          <p:nvPr/>
        </p:nvSpPr>
        <p:spPr>
          <a:xfrm>
            <a:off x="7662982" y="2448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ИТОГ ПРОЕКТА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62982" y="3058239"/>
            <a:ext cx="2945487" cy="1760577"/>
          </a:xfrm>
          <a:prstGeom prst="roundRect">
            <a:avLst>
              <a:gd name="adj" fmla="val 193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89796" y="3285053"/>
            <a:ext cx="2491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TCP + ICMP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89796" y="3866198"/>
            <a:ext cx="24918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Оба протокола реализованы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835283" y="3058239"/>
            <a:ext cx="2945487" cy="1760577"/>
          </a:xfrm>
          <a:prstGeom prst="roundRect">
            <a:avLst>
              <a:gd name="adj" fmla="val 193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062097" y="3285053"/>
            <a:ext cx="2491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GOROUTINES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62097" y="3866198"/>
            <a:ext cx="24918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Параллельный опрос хостов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662982" y="5045631"/>
            <a:ext cx="6117788" cy="1397675"/>
          </a:xfrm>
          <a:prstGeom prst="roundRect">
            <a:avLst>
              <a:gd name="adj" fmla="val 243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89796" y="5272445"/>
            <a:ext cx="3480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GRACEFUL SHUTDOWN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89796" y="5853589"/>
            <a:ext cx="56641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Корректная остановка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D0D85B6-8162-B32F-A735-8AC994FBEFEA}"/>
              </a:ext>
            </a:extLst>
          </p:cNvPr>
          <p:cNvSpPr/>
          <p:nvPr/>
        </p:nvSpPr>
        <p:spPr>
          <a:xfrm>
            <a:off x="12787200" y="7711200"/>
            <a:ext cx="1843200" cy="51840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142750" y="5199682"/>
            <a:ext cx="4600072" cy="45779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98" y="6127166"/>
            <a:ext cx="3502594" cy="1843234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726782">
            <a:off x="14014090" y="-405446"/>
            <a:ext cx="761641" cy="1097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353</Words>
  <Application>Microsoft Office PowerPoint</Application>
  <PresentationFormat>Произвольный</PresentationFormat>
  <Paragraphs>62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Calibri</vt:lpstr>
      <vt:lpstr>Aptos</vt:lpstr>
      <vt:lpstr>Roboto Condensed</vt:lpstr>
      <vt:lpstr>Hubot Sans Bold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</cp:lastModifiedBy>
  <cp:revision>14</cp:revision>
  <dcterms:created xsi:type="dcterms:W3CDTF">2026-04-06T14:26:52Z</dcterms:created>
  <dcterms:modified xsi:type="dcterms:W3CDTF">2026-04-07T06:33:26Z</dcterms:modified>
</cp:coreProperties>
</file>